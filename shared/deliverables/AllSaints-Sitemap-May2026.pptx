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1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E8D9A0"/>
                </a:solidFill>
                <a:latin typeface="Helvetica Neue"/>
              </a:rPr>
              <a:t>ALL SAINTS EPISCOPAL CHURCH  ·  CONCORD, 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ormorant Garamond"/>
              </a:rPr>
              <a:t>Website Refresh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 i="1">
                <a:solidFill>
                  <a:srgbClr val="E8D9A0"/>
                </a:solidFill>
                <a:latin typeface="Cormorant Garamond"/>
              </a:rPr>
              <a:t>Proposed Sitemap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Helvetica Neue"/>
              </a:rPr>
              <a:t>What's going live · what's getting consolidated · what's getting retired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49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E8D9A0"/>
                </a:solidFill>
                <a:latin typeface="Helvetica Neue"/>
              </a:rPr>
              <a:t>Review group meeting, May 27,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709160"/>
            <a:ext cx="1828800" cy="36576"/>
          </a:xfrm>
          <a:prstGeom prst="rect">
            <a:avLst/>
          </a:prstGeom>
          <a:solidFill>
            <a:srgbClr val="C8A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Helvetica Neue"/>
              </a:rPr>
              <a:t>Prepared by Nate Ernst  ·  v1 draft for vestry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7B2332"/>
                </a:solidFill>
                <a:latin typeface="Helvetica Neue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A1A1A"/>
                </a:solidFill>
                <a:latin typeface="Cormorant Garamond"/>
              </a:rPr>
              <a:t>We're not just changing what the site looks like.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1">
                <a:solidFill>
                  <a:srgbClr val="7B2332"/>
                </a:solidFill>
                <a:latin typeface="Cormorant Garamond"/>
              </a:rPr>
              <a:t>We're changing how visitors find what they need.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383280"/>
            <a:ext cx="36576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7490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7B2332"/>
                </a:solidFill>
                <a:latin typeface="Helvetica Neu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16052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ormorant Garamond"/>
              </a:rPr>
              <a:t>Make us easier to find.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98348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Helvetica Neue"/>
              </a:rPr>
              <a:t>Search-friendly structure, mobile-first, faster pages.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3383280"/>
            <a:ext cx="36576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37490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7B2332"/>
                </a:solidFill>
                <a:latin typeface="Helvetica Neu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416052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ormorant Garamond"/>
              </a:rPr>
              <a:t>Make us easier to read.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98348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Helvetica Neue"/>
              </a:rPr>
              <a:t>Clear hierarchy, fewer competing menus, real photography.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3383280"/>
            <a:ext cx="36576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37490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7B2332"/>
                </a:solidFill>
                <a:latin typeface="Helvetica Neue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416052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ormorant Garamond"/>
              </a:rPr>
              <a:t>Make us easier to update.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98348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Helvetica Neue"/>
              </a:rPr>
              <a:t>Squarespace editor. Brian can change copy, photos, events without code.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Helvetica Neue"/>
              </a:rPr>
              <a:t>All Saints Episcopal Church  ·  Website Refresh  ·  May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7B2332"/>
                </a:solidFill>
                <a:latin typeface="Helvetica Neue"/>
              </a:rPr>
              <a:t>WHAT EXISTS TODAY  ·  ALLSAINTSCONCORD.ORG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ormorant Garamond"/>
              </a:rPr>
              <a:t>The current site, as visitors find it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Helvetica Neue"/>
              </a:rPr>
              <a:t>Eight top-level menus, ~30 pages, multiple seasonal pages mixed in with evergreen content.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2567863" cy="1463040"/>
          </a:xfrm>
          <a:prstGeom prst="rect">
            <a:avLst/>
          </a:prstGeom>
          <a:solidFill>
            <a:srgbClr val="FAF8F4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2202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E1A28"/>
                </a:solidFill>
                <a:latin typeface="Helvetica Neue"/>
              </a:rPr>
              <a:t>Home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36543" y="1828800"/>
            <a:ext cx="2567863" cy="1463040"/>
          </a:xfrm>
          <a:prstGeom prst="rect">
            <a:avLst/>
          </a:prstGeom>
          <a:solidFill>
            <a:srgbClr val="FAF8F4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9423" y="1965960"/>
            <a:ext cx="2202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E1A28"/>
                </a:solidFill>
                <a:latin typeface="Helvetica Neue"/>
              </a:rPr>
              <a:t>Giving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9423" y="2286000"/>
            <a:ext cx="220210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  <a:latin typeface="Helvetica Neue"/>
              </a:rPr>
              <a:t>· Online Giving
· Tour de Saints Sponsorship
· 2026 Estimated Giving
· Tax Benefits &amp; Charitable Giving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7287" y="1828800"/>
            <a:ext cx="2567863" cy="1463040"/>
          </a:xfrm>
          <a:prstGeom prst="rect">
            <a:avLst/>
          </a:prstGeom>
          <a:solidFill>
            <a:srgbClr val="FAF8F4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0167" y="1965960"/>
            <a:ext cx="2202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E1A28"/>
                </a:solidFill>
                <a:latin typeface="Helvetica Neue"/>
              </a:rPr>
              <a:t>Rector Search Committee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38031" y="1828800"/>
            <a:ext cx="2567863" cy="1463040"/>
          </a:xfrm>
          <a:prstGeom prst="rect">
            <a:avLst/>
          </a:prstGeom>
          <a:solidFill>
            <a:srgbClr val="FAF8F4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20911" y="1965960"/>
            <a:ext cx="2202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E1A28"/>
                </a:solidFill>
                <a:latin typeface="Helvetica Neue"/>
              </a:rPr>
              <a:t>Live Events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383280"/>
            <a:ext cx="2567863" cy="1463040"/>
          </a:xfrm>
          <a:prstGeom prst="rect">
            <a:avLst/>
          </a:prstGeom>
          <a:solidFill>
            <a:srgbClr val="FAF8F4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20440"/>
            <a:ext cx="2202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E1A28"/>
                </a:solidFill>
                <a:latin typeface="Helvetica Neue"/>
              </a:rPr>
              <a:t>I'm New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40480"/>
            <a:ext cx="220210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  <a:latin typeface="Helvetica Neue"/>
              </a:rPr>
              <a:t>· Welcome
· Service Hours
· Become a Member
· Connect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36543" y="3383280"/>
            <a:ext cx="2567863" cy="1463040"/>
          </a:xfrm>
          <a:prstGeom prst="rect">
            <a:avLst/>
          </a:prstGeom>
          <a:solidFill>
            <a:srgbClr val="FAF8F4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9423" y="3520440"/>
            <a:ext cx="2202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E1A28"/>
                </a:solidFill>
                <a:latin typeface="Helvetica Neue"/>
              </a:rPr>
              <a:t>Who We 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423" y="3840480"/>
            <a:ext cx="220210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  <a:latin typeface="Helvetica Neue"/>
              </a:rPr>
              <a:t>· Clergy
· Staff
· Vestry
· What is an Episcopalian?
· History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7287" y="3383280"/>
            <a:ext cx="2567863" cy="1463040"/>
          </a:xfrm>
          <a:prstGeom prst="rect">
            <a:avLst/>
          </a:prstGeom>
          <a:solidFill>
            <a:srgbClr val="FAF8F4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0167" y="3520440"/>
            <a:ext cx="2202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E1A28"/>
                </a:solidFill>
                <a:latin typeface="Helvetica Neue"/>
              </a:rPr>
              <a:t>Get Help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3840480"/>
            <a:ext cx="220210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  <a:latin typeface="Helvetica Neue"/>
              </a:rPr>
              <a:t>· Life Events
· Prayer
· Pastoral Care
· Stephen Ministry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38031" y="3383280"/>
            <a:ext cx="2567863" cy="1463040"/>
          </a:xfrm>
          <a:prstGeom prst="rect">
            <a:avLst/>
          </a:prstGeom>
          <a:solidFill>
            <a:srgbClr val="FAF8F4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0911" y="3520440"/>
            <a:ext cx="2202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E1A28"/>
                </a:solidFill>
                <a:latin typeface="Helvetica Neue"/>
              </a:rPr>
              <a:t>Get Involved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0911" y="3840480"/>
            <a:ext cx="220210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  <a:latin typeface="Helvetica Neue"/>
              </a:rPr>
              <a:t>· Worship
· Learn
· Serve  ·  Ministry Contacts  ·  Koinonia  ·  CCM Volunteer
· Fellowship  ·  Cookbook
· Play
· Arboretum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937760"/>
            <a:ext cx="2567863" cy="1463040"/>
          </a:xfrm>
          <a:prstGeom prst="rect">
            <a:avLst/>
          </a:prstGeom>
          <a:solidFill>
            <a:srgbClr val="FAF8F4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2202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E1A28"/>
                </a:solidFill>
                <a:latin typeface="Helvetica Neue"/>
              </a:rPr>
              <a:t>Sign Ups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394960"/>
            <a:ext cx="220210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  <a:latin typeface="Helvetica Neue"/>
              </a:rPr>
              <a:t>· Weekly Word Signup
· Ball Game (seasonal)
· Personal Communion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36543" y="4937760"/>
            <a:ext cx="2567863" cy="1463040"/>
          </a:xfrm>
          <a:prstGeom prst="rect">
            <a:avLst/>
          </a:prstGeom>
          <a:solidFill>
            <a:srgbClr val="FAF8F4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9423" y="5074920"/>
            <a:ext cx="2202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E1A28"/>
                </a:solidFill>
                <a:latin typeface="Helvetica Neue"/>
              </a:rPr>
              <a:t>Lockhart CDC (external)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87287" y="4937760"/>
            <a:ext cx="2567863" cy="1463040"/>
          </a:xfrm>
          <a:prstGeom prst="rect">
            <a:avLst/>
          </a:prstGeom>
          <a:solidFill>
            <a:srgbClr val="FAF8F4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0167" y="5074920"/>
            <a:ext cx="2202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E1A28"/>
                </a:solidFill>
                <a:latin typeface="Helvetica Neue"/>
              </a:rPr>
              <a:t>Get the Latest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Helvetica Neue"/>
              </a:rPr>
              <a:t>All Saints Episcopal Church  ·  Website Refresh  ·  May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06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E8D9A0"/>
                </a:solidFill>
                <a:latin typeface="Helvetica Neue"/>
              </a:rPr>
              <a:t>WHAT'S GOING LIVE  ·  THE NEW 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ormorant Garamond"/>
              </a:rPr>
              <a:t>A clearer path to the things visitors actually want.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E8D9A0"/>
                </a:solidFill>
                <a:latin typeface="Helvetica Neue"/>
              </a:rPr>
              <a:t>Five top-level pages. Time-sensitive content surfaced. External tools (Realm, YouTube) linked from the nav.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2054291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A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2054291" cy="73152"/>
          </a:xfrm>
          <a:prstGeom prst="rect">
            <a:avLst/>
          </a:prstGeom>
          <a:solidFill>
            <a:srgbClr val="7B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19"/>
            <a:ext cx="16885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ormorant Garamond"/>
              </a:rPr>
              <a:t>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19"/>
            <a:ext cx="16885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B2332"/>
                </a:solidFill>
                <a:latin typeface="Helvetica Neue"/>
              </a:rPr>
              <a:t>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79"/>
            <a:ext cx="1688531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Helvetica Neue"/>
              </a:rPr>
              <a:t>Hero (random photo)
Welcome + Mission/Vision
This Week (bulletin, newsletter)
Worship (services)
Clergy &amp; Ministry Team
Rector Search section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77251" y="1874519"/>
            <a:ext cx="2054291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A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77251" y="1874519"/>
            <a:ext cx="2054291" cy="73152"/>
          </a:xfrm>
          <a:prstGeom prst="rect">
            <a:avLst/>
          </a:prstGeom>
          <a:solidFill>
            <a:srgbClr val="7B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0131" y="2103119"/>
            <a:ext cx="16885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ormorant Garamond"/>
              </a:rPr>
              <a:t>Visit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0131" y="2560319"/>
            <a:ext cx="16885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B2332"/>
                </a:solidFill>
                <a:latin typeface="Helvetica Neue"/>
              </a:rPr>
              <a:t>/visit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0131" y="2926079"/>
            <a:ext cx="1688531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Helvetica Neue"/>
              </a:rPr>
              <a:t>Service Times (Family + Traditional)
Your First Sunday (4 cards)
Sunday step-by-step
What to Expect
Getting Here (map + contact)
Accessibility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8702" y="1874519"/>
            <a:ext cx="2054291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A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68702" y="1874519"/>
            <a:ext cx="2054291" cy="73152"/>
          </a:xfrm>
          <a:prstGeom prst="rect">
            <a:avLst/>
          </a:prstGeom>
          <a:solidFill>
            <a:srgbClr val="7B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1582" y="2103119"/>
            <a:ext cx="16885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ormorant Garamond"/>
              </a:rPr>
              <a:t>Happenings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1582" y="2560319"/>
            <a:ext cx="16885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B2332"/>
                </a:solidFill>
                <a:latin typeface="Helvetica Neue"/>
              </a:rPr>
              <a:t>/happenings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1582" y="2926079"/>
            <a:ext cx="1688531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Helvetica Neue"/>
              </a:rPr>
              <a:t>Holy Week &amp; seasonal events
Recurring events
Weekly Bulletin link
Weekly Word newsletter
Sermon archive (optional)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0153" y="1874519"/>
            <a:ext cx="2054291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A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0153" y="1874519"/>
            <a:ext cx="2054291" cy="73152"/>
          </a:xfrm>
          <a:prstGeom prst="rect">
            <a:avLst/>
          </a:prstGeom>
          <a:solidFill>
            <a:srgbClr val="7B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3033" y="2103119"/>
            <a:ext cx="16885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ormorant Garamond"/>
              </a:rPr>
              <a:t>Connect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033" y="2560319"/>
            <a:ext cx="16885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B2332"/>
                </a:solidFill>
                <a:latin typeface="Helvetica Neue"/>
              </a:rPr>
              <a:t>/connect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033" y="2926079"/>
            <a:ext cx="1688531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Helvetica Neue"/>
              </a:rPr>
              <a:t>Ministries overview
Get Involved (Serve, Fellowship, Play)
Pastoral Care + Prayer + Life Events
Stephen Ministry
Become a Member
Ministry contacts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51604" y="1874519"/>
            <a:ext cx="2054291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A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51604" y="1874519"/>
            <a:ext cx="2054291" cy="73152"/>
          </a:xfrm>
          <a:prstGeom prst="rect">
            <a:avLst/>
          </a:prstGeom>
          <a:solidFill>
            <a:srgbClr val="7B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34484" y="2103119"/>
            <a:ext cx="16885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ormorant Garamond"/>
              </a:rPr>
              <a:t>About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4484" y="2560319"/>
            <a:ext cx="16885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B2332"/>
                </a:solidFill>
                <a:latin typeface="Helvetica Neue"/>
              </a:rPr>
              <a:t>/about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4484" y="2926079"/>
            <a:ext cx="1688531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Helvetica Neue"/>
              </a:rPr>
              <a:t>Who We Are
Clergy, Staff, Vestry
What is an Episcopalian
Our History
Arboretum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26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E8D9A0"/>
                </a:solidFill>
                <a:latin typeface="Helvetica Neue"/>
              </a:rPr>
              <a:t>PLUS  ·  EXTERNAL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6263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Helvetica Neue"/>
              </a:rPr>
              <a:t>Give (OnRealm)   ·   Watch Live (YouTube)   ·   Weekly Word (Constant Contact)   ·   Lockhart CDC   ·   Realm Member Portal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Helvetica Neue"/>
              </a:rPr>
              <a:t>All Saints Episcopal Church  ·  Website Refresh  ·  May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7B2332"/>
                </a:solidFill>
                <a:latin typeface="Helvetica Neue"/>
              </a:rPr>
              <a:t>HOW IT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ormorant Garamond"/>
              </a:rPr>
              <a:t>Everything moves to a clearer home.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Helvetica Neue"/>
              </a:rPr>
              <a:t>Almost nothing is lost. Most of today's content gets consolidated into fewer, deeper pages.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10698480" cy="365760"/>
          </a:xfrm>
          <a:prstGeom prst="rect">
            <a:avLst/>
          </a:prstGeom>
          <a:solidFill>
            <a:srgbClr val="5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5623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FFFFFF"/>
                </a:solidFill>
                <a:latin typeface="Helvetica Neue"/>
              </a:rPr>
              <a:t>TODAY (allsaintsconcord.org)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85623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FFFFFF"/>
                </a:solidFill>
                <a:latin typeface="Helvetica Neue"/>
              </a:rPr>
              <a:t>NEW 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85623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FFFFFF"/>
                </a:solidFill>
                <a:latin typeface="Helvetica Neue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10698480" cy="329184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12848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 Neue"/>
              </a:rPr>
              <a:t>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212848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B2332"/>
                </a:solidFill>
                <a:latin typeface="Helvetica Neue"/>
              </a:rPr>
              <a:t>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212848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  <a:latin typeface="Helvetica Neue"/>
              </a:rPr>
              <a:t>Redesigned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42032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 Neue"/>
              </a:rPr>
              <a:t>I'm New &gt; Welcome / Service Hours / 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542032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B2332"/>
                </a:solidFill>
                <a:latin typeface="Helvetica Neue"/>
              </a:rPr>
              <a:t>Visit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542032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  <a:latin typeface="Helvetica Neue"/>
              </a:rPr>
              <a:t>Consolidated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807208"/>
            <a:ext cx="10698480" cy="329184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871216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 Neue"/>
              </a:rPr>
              <a:t>I'm New &gt; Become a Member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871216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B2332"/>
                </a:solidFill>
                <a:latin typeface="Helvetica Neue"/>
              </a:rPr>
              <a:t>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871216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  <a:latin typeface="Helvetica Neue"/>
              </a:rPr>
              <a:t>Moved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200400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 Neue"/>
              </a:rPr>
              <a:t>Get Involved &gt; Worship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200400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B2332"/>
                </a:solidFill>
                <a:latin typeface="Helvetica Neue"/>
              </a:rPr>
              <a:t>Home (Worship section) + Visit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200400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  <a:latin typeface="Helvetica Neue"/>
              </a:rPr>
              <a:t>Consolidated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465576"/>
            <a:ext cx="10698480" cy="329184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529584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 Neue"/>
              </a:rPr>
              <a:t>Get Involved &gt; Learn / Serve / Fellowship / 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529584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B2332"/>
                </a:solidFill>
                <a:latin typeface="Helvetica Neue"/>
              </a:rPr>
              <a:t>Connect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529584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  <a:latin typeface="Helvetica Neue"/>
              </a:rPr>
              <a:t>Consolidated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858768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 Neue"/>
              </a:rPr>
              <a:t>Get Involved &gt; Arboretum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3858768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B2332"/>
                </a:solidFill>
                <a:latin typeface="Helvetica Neue"/>
              </a:rPr>
              <a:t>About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858768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  <a:latin typeface="Helvetica Neue"/>
              </a:rPr>
              <a:t>Moved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123944"/>
            <a:ext cx="10698480" cy="329184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187952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 Neue"/>
              </a:rPr>
              <a:t>Who We Are &gt; Clergy / Staff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4187952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B2332"/>
                </a:solidFill>
                <a:latin typeface="Helvetica Neue"/>
              </a:rPr>
              <a:t>Home + About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87952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  <a:latin typeface="Helvetica Neue"/>
              </a:rPr>
              <a:t>Consolidated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517136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 Neue"/>
              </a:rPr>
              <a:t>Who We Are &gt; Vestry / History / What is an Episcopalian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4517136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B2332"/>
                </a:solidFill>
                <a:latin typeface="Helvetica Neue"/>
              </a:rPr>
              <a:t>About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517136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  <a:latin typeface="Helvetica Neue"/>
              </a:rPr>
              <a:t>Moved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4782312"/>
            <a:ext cx="10698480" cy="329184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846320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 Neue"/>
              </a:rPr>
              <a:t>Get Help &gt; Pastoral Care / Prayer / Life Events / Stephen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4846320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B2332"/>
                </a:solidFill>
                <a:latin typeface="Helvetica Neue"/>
              </a:rPr>
              <a:t>Connect (Care section)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846320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  <a:latin typeface="Helvetica Neue"/>
              </a:rPr>
              <a:t>Consolidated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175504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 Neue"/>
              </a:rPr>
              <a:t>Rector Search Committee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5175504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B2332"/>
                </a:solidFill>
                <a:latin typeface="Helvetica Neue"/>
              </a:rPr>
              <a:t>Home (anchor) + Rector Search section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5175504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3E8E5C"/>
                </a:solidFill>
                <a:latin typeface="Helvetica Neue"/>
              </a:rPr>
              <a:t>Kept, elevated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5440680"/>
            <a:ext cx="10698480" cy="329184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5504688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 Neue"/>
              </a:rPr>
              <a:t>Live Events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5504688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B2332"/>
                </a:solidFill>
                <a:latin typeface="Helvetica Neue"/>
              </a:rPr>
              <a:t>Linked in nav  ·  external YouTube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5504688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3E8E5C"/>
                </a:solidFill>
                <a:latin typeface="Helvetica Neue"/>
              </a:rPr>
              <a:t>Kept (external)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833872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 Neue"/>
              </a:rPr>
              <a:t>Giving &gt; Online Giving / Realm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0" y="5833872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B2332"/>
                </a:solidFill>
                <a:latin typeface="Helvetica Neue"/>
              </a:rPr>
              <a:t>Give button in nav  ·  external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5833872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3E8E5C"/>
                </a:solidFill>
                <a:latin typeface="Helvetica Neue"/>
              </a:rPr>
              <a:t>Kept (external)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" y="6099048"/>
            <a:ext cx="10698480" cy="329184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6163056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 Neue"/>
              </a:rPr>
              <a:t>Giving &gt; Tour de Saints Sponsorship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6163056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B2332"/>
                </a:solidFill>
                <a:latin typeface="Helvetica Neue"/>
              </a:rPr>
              <a:t>Happenings or dedicated page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6163056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4A4A"/>
                </a:solidFill>
                <a:latin typeface="Helvetica Neue"/>
              </a:rPr>
              <a:t>TBD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6492240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 Neue"/>
              </a:rPr>
              <a:t>Sign Ups &gt; Weekly Word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6492240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B2332"/>
                </a:solidFill>
                <a:latin typeface="Helvetica Neue"/>
              </a:rPr>
              <a:t>Happenings + Home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6492240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3E8E5C"/>
                </a:solidFill>
                <a:latin typeface="Helvetica Neue"/>
              </a:rPr>
              <a:t>Kept (external)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" y="6757416"/>
            <a:ext cx="10698480" cy="329184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" y="6821424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 Neue"/>
              </a:rPr>
              <a:t>Sign Ups &gt; Ball Game / Personal Communion / Cookbook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0" y="6821424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B2332"/>
                </a:solidFill>
                <a:latin typeface="Helvetica Neue"/>
              </a:rPr>
              <a:t>Happenings / Connect (seasonal)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0" y="6821424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3E8E5C"/>
                </a:solidFill>
                <a:latin typeface="Helvetica Neue"/>
              </a:rPr>
              <a:t>Kept (lighter touch)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7150608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 Neue"/>
              </a:rPr>
              <a:t>Giving &gt; Estimated Giving / Tax Benefits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0" y="7150608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B2332"/>
                </a:solidFill>
                <a:latin typeface="Helvetica Neue"/>
              </a:rPr>
              <a:t>Giving section in Connect or Footer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0" y="7150608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3E8E5C"/>
                </a:solidFill>
                <a:latin typeface="Helvetica Neue"/>
              </a:rPr>
              <a:t>Kept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Helvetica Neue"/>
              </a:rPr>
              <a:t>All Saints Episcopal Church  ·  Website Refresh  ·  May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03A3A"/>
                </a:solidFill>
                <a:latin typeface="Helvetica Neue"/>
              </a:rPr>
              <a:t>WHAT'S RETIRED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ormorant Garamond"/>
              </a:rPr>
              <a:t>Very little goes away.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Helvetica Neue"/>
              </a:rPr>
              <a:t>The only pages I'd recommend retiring are ones that are seasonal or duplicate content elsewhere.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10817352" cy="777240"/>
          </a:xfrm>
          <a:prstGeom prst="rect">
            <a:avLst/>
          </a:prstGeom>
          <a:solidFill>
            <a:srgbClr val="FAF8F4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3911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03A3A"/>
                </a:solidFill>
                <a:latin typeface="Helvetica Neue"/>
              </a:rPr>
              <a:t>Take Us Out to the Ball 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Helvetica Neue"/>
              </a:rPr>
              <a:t>Seasonal sign-up page from a past year. If we re-run, it lives as a Happenings post, not a permanent page.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788920"/>
            <a:ext cx="10817352" cy="777240"/>
          </a:xfrm>
          <a:prstGeom prst="rect">
            <a:avLst/>
          </a:prstGeom>
          <a:solidFill>
            <a:srgbClr val="FAF8F4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077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03A3A"/>
                </a:solidFill>
                <a:latin typeface="Helvetica Neue"/>
              </a:rPr>
              <a:t>A Season for Thanks and Giving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Helvetica Neue"/>
              </a:rPr>
              <a:t>Seasonal stewardship campaign page. Re-create yearly as a Happenings post.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657600"/>
            <a:ext cx="10817352" cy="777240"/>
          </a:xfrm>
          <a:prstGeom prst="rect">
            <a:avLst/>
          </a:prstGeom>
          <a:solidFill>
            <a:srgbClr val="FAF8F4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764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03A3A"/>
                </a:solidFill>
                <a:latin typeface="Helvetica Neue"/>
              </a:rPr>
              <a:t>Tour de Saints 2021 Sponsorship 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Helvetica Neue"/>
              </a:rPr>
              <a:t>The slug references 2021. The 2026 sponsorship lives on a refreshed Happenings or Give page.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526280"/>
            <a:ext cx="10817352" cy="777240"/>
          </a:xfrm>
          <a:prstGeom prst="rect">
            <a:avLst/>
          </a:prstGeom>
          <a:solidFill>
            <a:srgbClr val="FAF8F4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03A3A"/>
                </a:solidFill>
                <a:latin typeface="Helvetica Neue"/>
              </a:rPr>
              <a:t>Churchmouse Cookbook (as nav item)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1032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Helvetica Neue"/>
              </a:rPr>
              <a:t>Keep the page if it's still active. Demote from the main nav into the relevant Fellowship section.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394960"/>
            <a:ext cx="10817352" cy="777240"/>
          </a:xfrm>
          <a:prstGeom prst="rect">
            <a:avLst/>
          </a:prstGeom>
          <a:solidFill>
            <a:srgbClr val="FAF8F4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138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03A3A"/>
                </a:solidFill>
                <a:latin typeface="Helvetica Neue"/>
              </a:rPr>
              <a:t>Get the Latest (separate page)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7900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Helvetica Neue"/>
              </a:rPr>
              <a:t>Merge into footer + Weekly Word signup; no need for a standalone page.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Helvetica Neue"/>
              </a:rPr>
              <a:t>All Saints Episcopal Church  ·  Website Refresh  ·  May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3E8E5C"/>
                </a:solidFill>
                <a:latin typeface="Helvetica Neue"/>
              </a:rPr>
              <a:t>WHAT'S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ormorant Garamond"/>
              </a:rPr>
              <a:t>Things the new site does that the old site doesn't.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5272887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54864" cy="1143000"/>
          </a:xfrm>
          <a:prstGeom prst="rect">
            <a:avLst/>
          </a:prstGeom>
          <a:solidFill>
            <a:srgbClr val="3E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56232"/>
            <a:ext cx="4815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ormorant Garamond"/>
              </a:rPr>
              <a:t>Mission + Vision on the home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Helvetica Neue"/>
              </a:rPr>
              <a:t>Front and center, no longer buried.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691640"/>
            <a:ext cx="5272887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3007" y="1691640"/>
            <a:ext cx="54864" cy="1143000"/>
          </a:xfrm>
          <a:prstGeom prst="rect">
            <a:avLst/>
          </a:prstGeom>
          <a:solidFill>
            <a:srgbClr val="3E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7327" y="1856232"/>
            <a:ext cx="4815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ormorant Garamond"/>
              </a:rPr>
              <a:t>"This Week" row near the 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240280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Helvetica Neue"/>
              </a:rPr>
              <a:t>Bulletin + newsletter the week of, where new visitors will see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80360"/>
            <a:ext cx="5272887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880360"/>
            <a:ext cx="54864" cy="1143000"/>
          </a:xfrm>
          <a:prstGeom prst="rect">
            <a:avLst/>
          </a:prstGeom>
          <a:solidFill>
            <a:srgbClr val="3E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044952"/>
            <a:ext cx="4815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ormorant Garamond"/>
              </a:rPr>
              <a:t>Real photography throughout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29000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Helvetica Neue"/>
              </a:rPr>
              <a:t>Joy Marie's photos replace generic stock and outdated screenshots.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2880360"/>
            <a:ext cx="5272887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7" y="2880360"/>
            <a:ext cx="54864" cy="1143000"/>
          </a:xfrm>
          <a:prstGeom prst="rect">
            <a:avLst/>
          </a:prstGeom>
          <a:solidFill>
            <a:srgbClr val="3E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7" y="3044952"/>
            <a:ext cx="4815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ormorant Garamond"/>
              </a:rPr>
              <a:t>Rector Search promoted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3429000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Helvetica Neue"/>
              </a:rPr>
              <a:t>From buried link to a homepage section and its own callout.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069080"/>
            <a:ext cx="5272887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069080"/>
            <a:ext cx="54864" cy="1143000"/>
          </a:xfrm>
          <a:prstGeom prst="rect">
            <a:avLst/>
          </a:prstGeom>
          <a:solidFill>
            <a:srgbClr val="3E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233672"/>
            <a:ext cx="4815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ormorant Garamond"/>
              </a:rPr>
              <a:t>Service Times as a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617720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Helvetica Neue"/>
              </a:rPr>
              <a:t>Visit page becomes the single place for service info, getting-here, accessibility.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4069080"/>
            <a:ext cx="5272887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3007" y="4069080"/>
            <a:ext cx="54864" cy="1143000"/>
          </a:xfrm>
          <a:prstGeom prst="rect">
            <a:avLst/>
          </a:prstGeom>
          <a:solidFill>
            <a:srgbClr val="3E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7327" y="4233672"/>
            <a:ext cx="4815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ormorant Garamond"/>
              </a:rPr>
              <a:t>Mobile-first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7327" y="4617720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Helvetica Neue"/>
              </a:rPr>
              <a:t>Every section designed for small screens before desktop.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257800"/>
            <a:ext cx="5272887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5257800"/>
            <a:ext cx="54864" cy="1143000"/>
          </a:xfrm>
          <a:prstGeom prst="rect">
            <a:avLst/>
          </a:prstGeom>
          <a:solidFill>
            <a:srgbClr val="3E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422392"/>
            <a:ext cx="4815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ormorant Garamond"/>
              </a:rPr>
              <a:t>Accessibility (WCAG AA)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806440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Helvetica Neue"/>
              </a:rPr>
              <a:t>Type sizes, color contrast, focus states meet WCAG AA across the site.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3007" y="5257800"/>
            <a:ext cx="5272887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3007" y="5257800"/>
            <a:ext cx="54864" cy="1143000"/>
          </a:xfrm>
          <a:prstGeom prst="rect">
            <a:avLst/>
          </a:prstGeom>
          <a:solidFill>
            <a:srgbClr val="3E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7327" y="5422392"/>
            <a:ext cx="4815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ormorant Garamond"/>
              </a:rPr>
              <a:t>Easy to update via Squarespace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7327" y="5806440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Helvetica Neue"/>
              </a:rPr>
              <a:t>Brian can change copy, swap photos, add events without dev help.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Helvetica Neue"/>
              </a:rPr>
              <a:t>All Saints Episcopal Church  ·  Website Refresh  ·  May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1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E8D9A0"/>
                </a:solidFill>
                <a:latin typeface="Helvetica Neue"/>
              </a:rPr>
              <a:t>OPEN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ormorant Garamond"/>
              </a:rPr>
              <a:t>Where I need the group's input.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673352"/>
            <a:ext cx="384048" cy="384048"/>
          </a:xfrm>
          <a:prstGeom prst="ellipse">
            <a:avLst/>
          </a:prstGeom>
          <a:solidFill>
            <a:srgbClr val="E8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19072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5E1A28"/>
                </a:solidFill>
                <a:latin typeface="Helvetica Ne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Rector Search: own page or homepage section?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911096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E8D9A0"/>
                </a:solidFill>
                <a:latin typeface="Helvetica Neue"/>
              </a:rPr>
              <a:t>Currently I'm planning both: a callout on the home page plus a dedicated page. Confirm both?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359152"/>
            <a:ext cx="384048" cy="384048"/>
          </a:xfrm>
          <a:prstGeom prst="ellipse">
            <a:avLst/>
          </a:prstGeom>
          <a:solidFill>
            <a:srgbClr val="E8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04872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5E1A28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31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Tour de Saints sponsorship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96896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E8D9A0"/>
                </a:solidFill>
                <a:latin typeface="Helvetica Neue"/>
              </a:rPr>
              <a:t>Joy Marie's keeping the standalone TdS site. Do we still want a sponsorship landing on the church site, or just link out?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044952"/>
            <a:ext cx="384048" cy="384048"/>
          </a:xfrm>
          <a:prstGeom prst="ellipse">
            <a:avLst/>
          </a:prstGeom>
          <a:solidFill>
            <a:srgbClr val="E8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90672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5E1A28"/>
                </a:solidFill>
                <a:latin typeface="Helvetica Ne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17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Lockhart CDC presence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282696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E8D9A0"/>
                </a:solidFill>
                <a:latin typeface="Helvetica Neue"/>
              </a:rPr>
              <a:t>Today it's a top-nav link to an external site. Keep prominence, demote to footer, or both?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3730752"/>
            <a:ext cx="384048" cy="384048"/>
          </a:xfrm>
          <a:prstGeom prst="ellipse">
            <a:avLst/>
          </a:prstGeom>
          <a:solidFill>
            <a:srgbClr val="E8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76472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5E1A28"/>
                </a:solidFill>
                <a:latin typeface="Helvetica Neue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03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Vestry photos and bios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968496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E8D9A0"/>
                </a:solidFill>
                <a:latin typeface="Helvetica Neue"/>
              </a:rPr>
              <a:t>Today the Vestry page is text-only. Add photos and one-line bios as part of this refresh?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4416552"/>
            <a:ext cx="384048" cy="384048"/>
          </a:xfrm>
          <a:prstGeom prst="ellipse">
            <a:avLst/>
          </a:prstGeom>
          <a:solidFill>
            <a:srgbClr val="E8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462272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5E1A28"/>
                </a:solidFill>
                <a:latin typeface="Helvetica Ne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389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Arboretum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654296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E8D9A0"/>
                </a:solidFill>
                <a:latin typeface="Helvetica Neue"/>
              </a:rPr>
              <a:t>Goes under About &gt; Our Campus, or keep as its own page under Connect?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5102352"/>
            <a:ext cx="384048" cy="384048"/>
          </a:xfrm>
          <a:prstGeom prst="ellipse">
            <a:avLst/>
          </a:prstGeom>
          <a:solidFill>
            <a:srgbClr val="E8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148072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5E1A28"/>
                </a:solidFill>
                <a:latin typeface="Helvetica Neue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074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Sermons archive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340096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E8D9A0"/>
                </a:solidFill>
                <a:latin typeface="Helvetica Neue"/>
              </a:rPr>
              <a:t>Add as a Happenings sub-page or skip until we have a sustainable source for them?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" y="5788152"/>
            <a:ext cx="384048" cy="384048"/>
          </a:xfrm>
          <a:prstGeom prst="ellipse">
            <a:avLst/>
          </a:prstGeom>
          <a:solidFill>
            <a:srgbClr val="E8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833872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5E1A28"/>
                </a:solidFill>
                <a:latin typeface="Helvetica Neue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Domain switch timing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6025896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E8D9A0"/>
                </a:solidFill>
                <a:latin typeface="Helvetica Neue"/>
              </a:rPr>
              <a:t>When the site is built in Squarespace and signed off, we cut DNS. Earliest realistic: mid-July, to coincide with the rector job posting. Confirm target.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Helvetica Neue"/>
              </a:rPr>
              <a:t>All Saints Episcopal Church  ·  Website Refresh  ·  May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7B2332"/>
                </a:solidFill>
                <a:latin typeface="Helvetica Neue"/>
              </a:rPr>
              <a:t>WHAT HAPPENS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ormorant Garamond"/>
              </a:rPr>
              <a:t>From sign-off to live 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Helvetica Neue"/>
              </a:rPr>
              <a:t>All work continues on the preview at allsaints-redesign.nate-ernst7.workers.dev until cutover.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7B2332"/>
                </a:solidFill>
                <a:latin typeface="Helvetica Neue"/>
              </a:rPr>
              <a:t>THIS WEEK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920240"/>
            <a:ext cx="18288" cy="731520"/>
          </a:xfrm>
          <a:prstGeom prst="rect">
            <a:avLst/>
          </a:prstGeom>
          <a:solidFill>
            <a:srgbClr val="C8A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584448" y="2039112"/>
            <a:ext cx="164592" cy="164592"/>
          </a:xfrm>
          <a:prstGeom prst="ellipse">
            <a:avLst/>
          </a:prstGeom>
          <a:solidFill>
            <a:srgbClr val="7B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201168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Helvetica Neue"/>
              </a:rPr>
              <a:t>Group feedback on the sitemap and open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7B2332"/>
                </a:solidFill>
                <a:latin typeface="Helvetica Neue"/>
              </a:rPr>
              <a:t>LATE MAY / EARLY JUNE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743200"/>
            <a:ext cx="18288" cy="731520"/>
          </a:xfrm>
          <a:prstGeom prst="rect">
            <a:avLst/>
          </a:prstGeom>
          <a:solidFill>
            <a:srgbClr val="C8A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84448" y="2862072"/>
            <a:ext cx="164592" cy="164592"/>
          </a:xfrm>
          <a:prstGeom prst="ellipse">
            <a:avLst/>
          </a:prstGeom>
          <a:solidFill>
            <a:srgbClr val="7B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283464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Helvetica Neue"/>
              </a:rPr>
              <a:t>Build Happenings + Connect + About pages on the preview; collect remaining content from Brian, ministry leads.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57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7B2332"/>
                </a:solidFill>
                <a:latin typeface="Helvetica Neue"/>
              </a:rPr>
              <a:t>MID-JUNE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3566160"/>
            <a:ext cx="18288" cy="731520"/>
          </a:xfrm>
          <a:prstGeom prst="rect">
            <a:avLst/>
          </a:prstGeom>
          <a:solidFill>
            <a:srgbClr val="C8A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4448" y="3685032"/>
            <a:ext cx="164592" cy="164592"/>
          </a:xfrm>
          <a:prstGeom prst="ellipse">
            <a:avLst/>
          </a:prstGeom>
          <a:solidFill>
            <a:srgbClr val="7B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365760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Helvetica Neue"/>
              </a:rPr>
              <a:t>Begin Squarespace rebuild. Content stays editable for Brian throughout.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805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7B2332"/>
                </a:solidFill>
                <a:latin typeface="Helvetica Neue"/>
              </a:rPr>
              <a:t>LATE JUNE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4389120"/>
            <a:ext cx="18288" cy="731520"/>
          </a:xfrm>
          <a:prstGeom prst="rect">
            <a:avLst/>
          </a:prstGeom>
          <a:solidFill>
            <a:srgbClr val="C8A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84448" y="4507992"/>
            <a:ext cx="164592" cy="164592"/>
          </a:xfrm>
          <a:prstGeom prst="ellipse">
            <a:avLst/>
          </a:prstGeom>
          <a:solidFill>
            <a:srgbClr val="7B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448056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Helvetica Neue"/>
              </a:rPr>
              <a:t>Squarespace build complete. Walk-through with the review group + vestry.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03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7B2332"/>
                </a:solidFill>
                <a:latin typeface="Helvetica Neue"/>
              </a:rPr>
              <a:t>MID-JULY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5212080"/>
            <a:ext cx="18288" cy="731520"/>
          </a:xfrm>
          <a:prstGeom prst="rect">
            <a:avLst/>
          </a:prstGeom>
          <a:solidFill>
            <a:srgbClr val="C8A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4448" y="5330952"/>
            <a:ext cx="164592" cy="164592"/>
          </a:xfrm>
          <a:prstGeom prst="ellipse">
            <a:avLst/>
          </a:prstGeom>
          <a:solidFill>
            <a:srgbClr val="7B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530352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Helvetica Neue"/>
              </a:rPr>
              <a:t>DNS cutover to coincide with rector job posting. Old site archived; redirects in place.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Helvetica Neue"/>
              </a:rPr>
              <a:t>All Saints Episcopal Church  ·  Website Refresh  ·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